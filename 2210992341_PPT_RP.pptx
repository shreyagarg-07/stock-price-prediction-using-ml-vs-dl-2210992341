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3146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pic>
        <p:nvPicPr>
          <p:cNvPr id="3" name="Image 0" descr="/home/claude/chitkara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92608"/>
            <a:ext cx="2377440" cy="749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1011089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Presentation of CO-OP Project at Industry (Module-2) (22CS421)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82880" y="1434253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1498769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Predicting Stock Prices Using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Machine Learning vs. Deep Learning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2606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Shreya Garg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2210992341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310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Supervised By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 Gifty Gupta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406908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Engineering, Chitkara University, Punjab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Agenda</a:t>
            </a:r>
            <a:endParaRPr lang="en-US" sz="2800" dirty="0"/>
          </a:p>
        </p:txBody>
      </p:sp>
      <p:pic>
        <p:nvPicPr>
          <p:cNvPr id="4" name="Image 0" descr="/home/claude/chitkara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91440"/>
            <a:ext cx="1920240" cy="6126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9789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1005840"/>
            <a:ext cx="8229600" cy="38816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&amp; Background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 &amp; Research Design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&amp; Feature Engineering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Models &amp; Experimental Setup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&amp; Performance Comparison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Discussion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 &amp; Future Scope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800" dirty="0"/>
          </a:p>
        </p:txBody>
      </p:sp>
      <p:pic>
        <p:nvPicPr>
          <p:cNvPr id="4" name="Image 0" descr="/home/claude/chitkara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91440"/>
            <a:ext cx="1920240" cy="6126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9789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1005840"/>
            <a:ext cx="8229600" cy="38816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Stock price prediction sits at the crossroads of finance and computer science — complex, high-stakes, and notoriously difficult.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Efficient Market Hypothesis suggests prices already reflect all available information — yet short-term exploitable patterns do exist.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Classical methods (ARIMA, Linear Regression) assume linearity and stationarity — rarely true for real markets.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Machine learning methods (SVR, Random Forest, Gradient Boosting) model non-linear relationships without stationarity assumptions.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learning (LSTM, GRU) can learn long-range dependencies from raw sequences without explicit feature engineering.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Published comparisons are rarely controlled — different stocks, time windows, splits, metrics — making it hard to draw conclusions.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study: six models, one dataset, identical conditions, five evaluation metrics.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Objectives</a:t>
            </a:r>
            <a:endParaRPr lang="en-US" sz="2800" dirty="0"/>
          </a:p>
        </p:txBody>
      </p:sp>
      <p:pic>
        <p:nvPicPr>
          <p:cNvPr id="4" name="Image 0" descr="/home/claude/chitkara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91440"/>
            <a:ext cx="1920240" cy="6126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9789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0040" y="1097280"/>
            <a:ext cx="2651760" cy="256032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097280"/>
            <a:ext cx="265176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29768" y="164592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Lowest Error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29768" y="2103120"/>
            <a:ext cx="243230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model achieves the lowest prediction error (RMSE &amp; MAE) on unseen test data?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00400" y="1097280"/>
            <a:ext cx="2651760" cy="256032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097280"/>
            <a:ext cx="265176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310128" y="164592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Direction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310128" y="2103120"/>
            <a:ext cx="243230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model most accurately predicts daily price direction — the key metric for trading?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80760" y="1097280"/>
            <a:ext cx="2651760" cy="256032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80760" y="1097280"/>
            <a:ext cx="265176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076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190488" y="164592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 vs DL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190488" y="2103120"/>
            <a:ext cx="243230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what conditions do classical ML methods remain competitive with deep learning?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2800" dirty="0"/>
          </a:p>
        </p:txBody>
      </p:sp>
      <p:pic>
        <p:nvPicPr>
          <p:cNvPr id="4" name="Image 0" descr="/home/claude/chitkara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91440"/>
            <a:ext cx="1920240" cy="6126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9789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1005840"/>
            <a:ext cx="8229600" cy="38816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ARIMA (classical): assumed stationarity &amp; linearity — rarely holds for real financial data [15].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SVM &amp; ensemble methods (2000s): modelled non-linear relationships; improvement largely from better features, not better algorithms [11][12].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Fischer &amp; Krauss (2018): strong LSTM performance on S&amp;P 500 — but still used engineered features [1].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Sezer et al. (2020): reviewed 150+ papers; different datasets/metrics make fair comparison extremely difficult [2].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Nikou et al. (2019): classical ML with feature engineering remained highly competitive with deep learning [5].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Krauss et al. (2017): Gradient Boosting often matched or exceeded deep learning on S&amp;P 500 [12].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consensus: deep learning advantages emerge most on large datasets (5,000+ samples); classical ML often wins on moderate-sized datasets [2][3][6].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Publication bias: positive results get published — literature likely overstates typical performance [6].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2800" dirty="0"/>
          </a:p>
        </p:txBody>
      </p:sp>
      <p:pic>
        <p:nvPicPr>
          <p:cNvPr id="4" name="Image 0" descr="/home/claude/chitkara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91440"/>
            <a:ext cx="1920240" cy="6126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9789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1337310"/>
            <a:ext cx="3474720" cy="292608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337310"/>
            <a:ext cx="34747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Collection (OHLCV, Jan 2019 – Dec 2023)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322576" y="1629918"/>
            <a:ext cx="0" cy="25603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94560" y="173964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94360" y="1922526"/>
            <a:ext cx="3474720" cy="292608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1922526"/>
            <a:ext cx="34747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Engineering (16 Technical Indicators)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322576" y="2215134"/>
            <a:ext cx="0" cy="25603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94560" y="232486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94360" y="2507742"/>
            <a:ext cx="3474720" cy="292608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2507742"/>
            <a:ext cx="34747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/ Test Split  80% Train | 20% Test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322576" y="2800350"/>
            <a:ext cx="0" cy="25603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194560" y="291007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94360" y="3092958"/>
            <a:ext cx="3474720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3092958"/>
            <a:ext cx="34747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 Models (16 Features)   +   DL Models (30-day window)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2322576" y="3385566"/>
            <a:ext cx="0" cy="25603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194560" y="349529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94360" y="3678174"/>
            <a:ext cx="3474720" cy="292608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3678174"/>
            <a:ext cx="34747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Evaluation (RMSE, MAE, R², MAPE, Dir. Acc.)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322576" y="3970782"/>
            <a:ext cx="0" cy="25603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94560" y="408051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94360" y="4263390"/>
            <a:ext cx="3474720" cy="292608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4360" y="4263390"/>
            <a:ext cx="34747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&amp; Analysis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434840" y="1005840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Design Decisions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434840" y="1389888"/>
            <a:ext cx="4434840" cy="3470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Controlled Experiment: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Same dataset, same seeds, same metrics for all 6 models.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Temporal Integrity: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No shuffling — chronological split maintained.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 Pipeline: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16-dimensional feature vector per time step.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DL Pipeline: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30-day sliding window of raw closing prices.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Normalization: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Min-max scaling [0,1] fitted on training data only — no leakage.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Evaluation:</a:t>
            </a: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5 metrics computed on held-out 239-day test set.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&amp; Feature Engineering</a:t>
            </a:r>
            <a:endParaRPr lang="en-US" sz="2800" dirty="0"/>
          </a:p>
        </p:txBody>
      </p:sp>
      <p:pic>
        <p:nvPicPr>
          <p:cNvPr id="4" name="Image 0" descr="/home/claude/chitkara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91440"/>
            <a:ext cx="1920240" cy="6126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9789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Google Dataset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0040" y="1389888"/>
            <a:ext cx="4114800" cy="3470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1,192 usable trading days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January 2019 – December 2023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market regimes: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Jan 2019 – Feb 2020: Pre-pandemic growth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March 2020: COVID-19 crash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Apr 2020 – Nov 2021: Tech bull market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2022–2023: Partial bear market recovery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Split: 953 days train  |  239 days test (80/20)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0" y="100584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 Engineered Features (ML Models)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0" y="1417320"/>
            <a:ext cx="2103120" cy="347472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0" y="1417320"/>
            <a:ext cx="21031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MA_10, MA_50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766560" y="1417320"/>
            <a:ext cx="2103120" cy="347472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66560" y="1417320"/>
            <a:ext cx="21031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EMA_12, EMA_26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0" y="1837944"/>
            <a:ext cx="2103120" cy="347472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0" y="1837944"/>
            <a:ext cx="21031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MACD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766560" y="1837944"/>
            <a:ext cx="2103120" cy="347472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66560" y="1837944"/>
            <a:ext cx="21031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RSI (14-period)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572000" y="2258568"/>
            <a:ext cx="2103120" cy="347472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0" y="2258568"/>
            <a:ext cx="21031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Bollinger Band Width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766560" y="2258568"/>
            <a:ext cx="2103120" cy="347472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66560" y="2258568"/>
            <a:ext cx="21031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Rolling Volatility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572000" y="2679192"/>
            <a:ext cx="2103120" cy="347472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0" y="2679192"/>
            <a:ext cx="21031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Volume MA (5-day)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766560" y="2679192"/>
            <a:ext cx="2103120" cy="347472"/>
          </a:xfrm>
          <a:prstGeom prst="rect">
            <a:avLst/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66560" y="2679192"/>
            <a:ext cx="21031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Lag_1, Lag_2, Lag_3, Lag_5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Models &amp; Experimental Setup</a:t>
            </a:r>
            <a:endParaRPr lang="en-US" sz="2800" dirty="0"/>
          </a:p>
        </p:txBody>
      </p:sp>
      <p:pic>
        <p:nvPicPr>
          <p:cNvPr id="4" name="Image 0" descr="/home/claude/chitkara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91440"/>
            <a:ext cx="1920240" cy="6126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9789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0040" y="1005840"/>
            <a:ext cx="397764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00584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Machine Learning Models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0040" y="1463040"/>
            <a:ext cx="39776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48132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172821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 OLS on 16-feature vector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0040" y="2121408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213969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SVR (RBF kernel)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11480" y="238658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C=100, gamma=0.01, epsilon=0.01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20040" y="2779776"/>
            <a:ext cx="39776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279806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11480" y="304495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200 trees, max depth 15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20040" y="3438144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345643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Gradient Boosting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11480" y="370332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300 iterations, learning rate 0.05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0" y="1005840"/>
            <a:ext cx="3977640" cy="38404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0" y="100584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 Learning Models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572000" y="1463040"/>
            <a:ext cx="397764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63440" y="150876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LSTM-equivalent MLP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663440" y="176479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hidden layers: 128 → 64 → 32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ReLU activation, Adam optimizer, 50 epochs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572000" y="2267712"/>
            <a:ext cx="3977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63440" y="231343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GRU-equivalent MLP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663440" y="25694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hidden layers: 96 → 48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tanh activation, Adam optimizer, 50 epochs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320040" y="4160520"/>
            <a:ext cx="8503920" cy="292608"/>
          </a:xfrm>
          <a:prstGeom prst="rect">
            <a:avLst/>
          </a:prstGeom>
          <a:noFill/>
          <a:ln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 Input: 16 engineered features per day  |  DL Input: 30-day sliding window of raw closing prices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— Performance Metrics</a:t>
            </a:r>
            <a:endParaRPr lang="en-US" sz="2800" dirty="0"/>
          </a:p>
        </p:txBody>
      </p:sp>
      <p:pic>
        <p:nvPicPr>
          <p:cNvPr id="4" name="Image 0" descr="/home/claude/chitkara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91440"/>
            <a:ext cx="1920240" cy="6126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9789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74320" y="10058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 I: All Six Models on Google Test Set (239 trading days)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05840"/>
          <a:ext cx="6949440" cy="2212848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Rank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Type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RMSE ($)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MAE ($)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R²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MAPE (%)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Dir. Acc. (%)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Linear Regression ★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0.60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0.49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0.9987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0.43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88.66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SVR (RBF)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0.65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0.9985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0.45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89.08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Forest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0.76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0.9968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0.66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79.41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Gradient Boosting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0.98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0.79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0.9965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0.69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81.09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LSTM (Deep MLP)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2.87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2.17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0.9701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1.90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45.38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GRU (Deep MLP)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3.09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2.36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0.9654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2.06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47.90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— ML Model Predictions</a:t>
            </a:r>
            <a:endParaRPr lang="en-US" sz="2800" dirty="0"/>
          </a:p>
        </p:txBody>
      </p:sp>
      <p:pic>
        <p:nvPicPr>
          <p:cNvPr id="4" name="Image 0" descr="/home/claude/chitkara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91440"/>
            <a:ext cx="1920240" cy="6126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9789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Image 1" descr="/home/claude/src_unpacked/word/media/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2435" y="1005840"/>
            <a:ext cx="5419129" cy="3561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46131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1: ML Models — Actual vs. Predicted Google Closing Prices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— Price History &amp; DL Predictions</a:t>
            </a:r>
            <a:endParaRPr lang="en-US" sz="2800" dirty="0"/>
          </a:p>
        </p:txBody>
      </p:sp>
      <p:pic>
        <p:nvPicPr>
          <p:cNvPr id="4" name="Image 0" descr="/home/claude/chitkara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91440"/>
            <a:ext cx="1920240" cy="6126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9789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000" dirty="0"/>
          </a:p>
        </p:txBody>
      </p:sp>
      <p:pic>
        <p:nvPicPr>
          <p:cNvPr id="7" name="Image 1" descr="/home/claude/src_unpacked/word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1676" y="1005840"/>
            <a:ext cx="4620647" cy="162077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264490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2: Google Historical Closing Prices</a:t>
            </a:r>
            <a:endParaRPr lang="en-US" sz="1000" dirty="0"/>
          </a:p>
        </p:txBody>
      </p:sp>
      <p:pic>
        <p:nvPicPr>
          <p:cNvPr id="9" name="Image 2" descr="/home/claude/src_unpacked/word/media/imag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5816" y="2992374"/>
            <a:ext cx="3152369" cy="16664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74320" y="4677156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3: Deep Learning Models — Actual vs. Predicted Google Closing Prices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— Metric Comparison</a:t>
            </a:r>
            <a:endParaRPr lang="en-US" sz="2800" dirty="0"/>
          </a:p>
        </p:txBody>
      </p:sp>
      <p:pic>
        <p:nvPicPr>
          <p:cNvPr id="4" name="Image 0" descr="/home/claude/chitkara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91440"/>
            <a:ext cx="1920240" cy="6126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9789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000" dirty="0"/>
          </a:p>
        </p:txBody>
      </p:sp>
      <p:pic>
        <p:nvPicPr>
          <p:cNvPr id="7" name="Image 1" descr="/home/claude/src_unpacked/word/media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0943" y="1005840"/>
            <a:ext cx="2042114" cy="16893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271348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4: Scatter Plots — Actual vs. Predicted Prices</a:t>
            </a:r>
            <a:endParaRPr lang="en-US" sz="1000" dirty="0"/>
          </a:p>
        </p:txBody>
      </p:sp>
      <p:pic>
        <p:nvPicPr>
          <p:cNvPr id="9" name="Image 2" descr="/home/claude/src_unpacked/word/media/imag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0449" y="2951226"/>
            <a:ext cx="3903101" cy="15979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74320" y="45674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5: Performance Comparison — RMSE, MAE, Directional Accuracy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— Prediction Residuals</a:t>
            </a:r>
            <a:endParaRPr lang="en-US" sz="2800" dirty="0"/>
          </a:p>
        </p:txBody>
      </p:sp>
      <p:pic>
        <p:nvPicPr>
          <p:cNvPr id="4" name="Image 0" descr="/home/claude/chitkara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91440"/>
            <a:ext cx="1920240" cy="6126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9789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000" dirty="0"/>
          </a:p>
        </p:txBody>
      </p:sp>
      <p:pic>
        <p:nvPicPr>
          <p:cNvPr id="7" name="Image 1" descr="/home/claude/src_unpacked/word/media/imag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0694" y="1005840"/>
            <a:ext cx="10025389" cy="3561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46131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6: Prediction Residuals for All Six Models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Findings at a Glance</a:t>
            </a:r>
            <a:endParaRPr lang="en-US" sz="2800" dirty="0"/>
          </a:p>
        </p:txBody>
      </p:sp>
      <p:pic>
        <p:nvPicPr>
          <p:cNvPr id="4" name="Image 0" descr="/home/claude/chitkara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91440"/>
            <a:ext cx="1920240" cy="6126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9789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20624" y="1757934"/>
            <a:ext cx="1965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20624" y="1757934"/>
            <a:ext cx="1965960" cy="731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" y="1922526"/>
            <a:ext cx="1874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$0.60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93776" y="2708910"/>
            <a:ext cx="18196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RMSE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(Linear Regression)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3776" y="3568446"/>
            <a:ext cx="1819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R² = 0.9987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32888" y="1757934"/>
            <a:ext cx="1965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32888" y="1757934"/>
            <a:ext cx="1965960" cy="731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78608" y="1922526"/>
            <a:ext cx="1874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89.08%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2606040" y="2708910"/>
            <a:ext cx="18196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Directional Accuracy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(SVR RBF)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606040" y="3568446"/>
            <a:ext cx="1819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~212 / 238 days correct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45152" y="1757934"/>
            <a:ext cx="1965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45152" y="1757934"/>
            <a:ext cx="1965960" cy="731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90872" y="1922526"/>
            <a:ext cx="1874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&gt;$2.80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4718304" y="2708910"/>
            <a:ext cx="18196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DL Model RMSE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(LSTM &amp; GRU)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718304" y="3568446"/>
            <a:ext cx="1819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45–48% directional accuracy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757416" y="1757934"/>
            <a:ext cx="1965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757416" y="1757934"/>
            <a:ext cx="1965960" cy="731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03136" y="1922526"/>
            <a:ext cx="1874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 vs 30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6830568" y="2708910"/>
            <a:ext cx="18196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Features vs Window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(ML vs DL input)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830568" y="3568446"/>
            <a:ext cx="1819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engineering wins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Discussion</a:t>
            </a:r>
            <a:endParaRPr lang="en-US" sz="2800" dirty="0"/>
          </a:p>
        </p:txBody>
      </p:sp>
      <p:pic>
        <p:nvPicPr>
          <p:cNvPr id="4" name="Image 0" descr="/home/claude/chitkara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91440"/>
            <a:ext cx="1920240" cy="6126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9789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0040" y="1005840"/>
            <a:ext cx="2651760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005840"/>
            <a:ext cx="26517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ML Beat DL Here?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3192" y="1389888"/>
            <a:ext cx="2505456" cy="3470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 had 16 engineered indicators; DL only saw raw 30-day price sequences.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period (2022–2023) had smooth trends — favourable for moving average features.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953 training samples falls below where deep learning typically shows its advantage.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00400" y="1005840"/>
            <a:ext cx="2651760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0" y="1005840"/>
            <a:ext cx="26517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Directional Accuracy Story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73552" y="1389888"/>
            <a:ext cx="2505456" cy="3470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SVR's 89.08% directional accuracy is the most practically significant result.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Nelson et al. [8]: directional accuracy matters more for trading than exact price.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Correctly predicting up/down on 9/10 days has real trading value.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80760" y="1005840"/>
            <a:ext cx="2651760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0760" y="1005840"/>
            <a:ext cx="26517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Comparison with Literature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53912" y="1389888"/>
            <a:ext cx="2505456" cy="3470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Nikou et al. [5]: classical ML competitive with DL even with feature engineering.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Krauss et al. [12]: Gradient Boosting matched DL on S&amp;P 500 data.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Consensus [2][3][6]: model choice should follow data characteristics, not fashion.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 &amp; Future Scope</a:t>
            </a:r>
            <a:endParaRPr lang="en-US" sz="2800" dirty="0"/>
          </a:p>
        </p:txBody>
      </p:sp>
      <p:pic>
        <p:nvPicPr>
          <p:cNvPr id="4" name="Image 0" descr="/home/claude/chitkara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91440"/>
            <a:ext cx="1920240" cy="6126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9789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0040" y="1005840"/>
            <a:ext cx="3977640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00584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1408176"/>
            <a:ext cx="3886200" cy="34427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 approximations, not true LSTM/GRU recurrent architectures.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Single stock (GOOG) — limits generalizability.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Smooth test period favoured moving average features.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953 training samples below deep learning's optimal range.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alternative data (news sentiment, macro indicators).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572000" y="1005840"/>
            <a:ext cx="4297680" cy="34747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0" y="100584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617720" y="1408176"/>
            <a:ext cx="4206240" cy="34427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 true LSTM/GRU recurrent architectures.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Multi-asset evaluation across sectors and indices.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Integrate news sentiment and macroeconomic features.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Explore CNN-LSTM and Transformer-based hybrid models.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across volatile periods (2020 crash, 2022 bear).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Ensemble ML + DL predictions to combine strengths.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800" dirty="0"/>
          </a:p>
        </p:txBody>
      </p:sp>
      <p:pic>
        <p:nvPicPr>
          <p:cNvPr id="4" name="Image 0" descr="/home/claude/chitkara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91440"/>
            <a:ext cx="1920240" cy="6126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0" y="49789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1005840"/>
            <a:ext cx="8229600" cy="38816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Compared six models on 1,192 trading days of real Google stock data (2019–2023).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Regression achieved the best RMSE of $0.60 with R² = 0.9987.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SVR (RBF) achieved the best directional accuracy at 89.08% — correctly predicting price direction on ~212 of 238 test days.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deep learning models (LSTM, GRU) struggled: RMSE &gt; $2.80, directional accuracy 45–48%.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 explained by richer ML features, smooth test conditions, and small dataset size.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takeaway: invest in feature engineering — it often matters more than algorithm choice on moderate-sized datasets.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align with emerging consensus in literature [2][3][5][6][12]: ML remains highly competitive on datasets of this scale.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pic>
        <p:nvPicPr>
          <p:cNvPr id="3" name="Image 0" descr="/home/claude/chitkara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92608"/>
            <a:ext cx="2377440" cy="749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Shreya Garg  |  2210992341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Chitkara University, Punjab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0" y="49789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1492</Words>
  <Application>Microsoft Office PowerPoint</Application>
  <PresentationFormat>On-screen Show (16:9)</PresentationFormat>
  <Paragraphs>261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Lakshay Garg</cp:lastModifiedBy>
  <cp:revision>2</cp:revision>
  <dcterms:created xsi:type="dcterms:W3CDTF">2026-05-16T07:26:44Z</dcterms:created>
  <dcterms:modified xsi:type="dcterms:W3CDTF">2026-05-16T07:35:29Z</dcterms:modified>
</cp:coreProperties>
</file>